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本讲为第 01 讲，从「预测更准」到「决策更优」。开场先讲情境，不要先讲概念。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先让学生看到节奏：4 学时不是 4 节理论课，而是 1 个完整工作循环。强调最后 25 分钟验收不可省。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逐条读目标，但不要解释。告诉学生：目标不是背的，是下课前用来对照的。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讲情境时不要急着给答案。讲完停 5 秒，问：'如果是你，你怎么回答？' 让 2–3 个学生说。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问题链是本讲的骨架。每讲完一个概念，回到对应问题，确认学生能答。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让学生数一数自己见过哪几种断法。强调：本课程 60% 的精力在决策与反馈。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逐行讲一个项目实例。AG 是大多数团队最容易漏掉的，也是客户最在意的。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这是全课程的总纲。后面 05–09 讲全部在展开 Harness。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让学生自评现在在哪一列。不要点名批评，让他们自己说。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强调不能跳讲。可以举例子：没做需求，第 13 讲就没法设计用例。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把 42 项清单投出来给他们看一眼，让他们知道终点长什么样。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逐项打勾，缺一项不算完成。当场交叉检查，不要留到课后。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用往届真实情况讲，学生更容易听进去。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路演只给 90 秒，训练「说重点」。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小结只留 4 句，不重复细节。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作业要当堂说清楚提交位置与截止时间。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结束页不要拖堂。留 10 分钟做复盘三问，比多讲一个知识点有价值。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281160" y="320040"/>
            <a:ext cx="274320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0" b="1" i="0">
                <a:solidFill>
                  <a:srgbClr val="1E334A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C9A227"/>
                </a:solidFill>
                <a:latin typeface="微软雅黑"/>
                <a:ea typeface="微软雅黑"/>
                <a:cs typeface="微软雅黑"/>
              </a:rPr>
              <a:t>M1 认知与规格  ·  第 01 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83210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从「预测更准」到「决策更优」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794760"/>
            <a:ext cx="7589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B8C6D4"/>
                </a:solidFill>
                <a:latin typeface="微软雅黑"/>
                <a:ea typeface="微软雅黑"/>
                <a:cs typeface="微软雅黑"/>
              </a:rPr>
              <a:t>智能体工程化的岗位地图、项目全景与团队组建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4892040"/>
            <a:ext cx="7498079" cy="18288"/>
          </a:xfrm>
          <a:prstGeom prst="rect">
            <a:avLst/>
          </a:prstGeom>
          <a:solidFill>
            <a:srgbClr val="33485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20640"/>
            <a:ext cx="8412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8A9AAB"/>
                </a:solidFill>
                <a:latin typeface="微软雅黑"/>
                <a:ea typeface="微软雅黑"/>
                <a:cs typeface="微软雅黑"/>
              </a:rPr>
              <a:t>4 学时（理论 1.5 / 实践 2.5）｜机房｜学校教师 + 企业导师 1h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9893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F8296"/>
                </a:solidFill>
                <a:latin typeface="微软雅黑"/>
                <a:ea typeface="微软雅黑"/>
                <a:cs typeface="微软雅黑"/>
              </a:rPr>
              <a:t>AI 智能体工程化项目实战  ·  64 学时  ·  双元制本土化课程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SESSION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本讲导航：4 学时怎么用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965960"/>
            <a:ext cx="2606040" cy="1600200"/>
          </a:xfrm>
          <a:prstGeom prst="roundRect">
            <a:avLst>
              <a:gd name="adj" fmla="val 6000"/>
            </a:avLst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965960"/>
            <a:ext cx="54864" cy="16002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1" y="2176272"/>
            <a:ext cx="2148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1" y="2487168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情境唤醒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2880360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老周的三句话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84448" y="1965960"/>
            <a:ext cx="2606040" cy="1600200"/>
          </a:xfrm>
          <a:prstGeom prst="roundRect">
            <a:avLst>
              <a:gd name="adj" fmla="val 6000"/>
            </a:avLst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84448" y="1965960"/>
            <a:ext cx="54864" cy="160020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0" y="2176272"/>
            <a:ext cx="2148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1F7A8C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2487168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知识建构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2880360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价值链与六功能块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91656" y="1965960"/>
            <a:ext cx="2606040" cy="1600200"/>
          </a:xfrm>
          <a:prstGeom prst="roundRect">
            <a:avLst>
              <a:gd name="adj" fmla="val 6000"/>
            </a:avLst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91656" y="1965960"/>
            <a:ext cx="54864" cy="16002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47688" y="2176272"/>
            <a:ext cx="2148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47688" y="2487168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团队组建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47688" y="2880360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角色 / 仓库 / 看板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98864" y="1965960"/>
            <a:ext cx="2606040" cy="1600200"/>
          </a:xfrm>
          <a:prstGeom prst="roundRect">
            <a:avLst>
              <a:gd name="adj" fmla="val 6000"/>
            </a:avLst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98864" y="1965960"/>
            <a:ext cx="54864" cy="160020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54896" y="2176272"/>
            <a:ext cx="2148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1F7A8C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54896" y="2487168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验收复盘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880360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章程与看板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3977639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行动六步（完整行动模型）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4434840"/>
            <a:ext cx="1481328" cy="566928"/>
          </a:xfrm>
          <a:prstGeom prst="roundRect">
            <a:avLst>
              <a:gd name="adj" fmla="val 12000"/>
            </a:avLst>
          </a:prstGeom>
          <a:solidFill>
            <a:srgbClr val="0E1B2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4590288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信息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76856" y="458114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 i="0">
                <a:solidFill>
                  <a:srgbClr val="8A9AAB"/>
                </a:solidFill>
                <a:latin typeface="微软雅黑"/>
                <a:ea typeface="微软雅黑"/>
                <a:cs typeface="微软雅黑"/>
              </a:rPr>
              <a:t>›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560320" y="4434840"/>
            <a:ext cx="1481328" cy="566928"/>
          </a:xfrm>
          <a:prstGeom prst="roundRect">
            <a:avLst>
              <a:gd name="adj" fmla="val 12000"/>
            </a:avLst>
          </a:prstGeom>
          <a:solidFill>
            <a:srgbClr val="182B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560320" y="4590288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计划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59935" y="458114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 i="0">
                <a:solidFill>
                  <a:srgbClr val="8A9AAB"/>
                </a:solidFill>
                <a:latin typeface="微软雅黑"/>
                <a:ea typeface="微软雅黑"/>
                <a:cs typeface="微软雅黑"/>
              </a:rPr>
              <a:t>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43400" y="4434840"/>
            <a:ext cx="1481328" cy="566928"/>
          </a:xfrm>
          <a:prstGeom prst="roundRect">
            <a:avLst>
              <a:gd name="adj" fmla="val 12000"/>
            </a:avLst>
          </a:prstGeom>
          <a:solidFill>
            <a:srgbClr val="0E1B2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43400" y="4590288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决策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43016" y="458114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 i="0">
                <a:solidFill>
                  <a:srgbClr val="8A9AAB"/>
                </a:solidFill>
                <a:latin typeface="微软雅黑"/>
                <a:ea typeface="微软雅黑"/>
                <a:cs typeface="微软雅黑"/>
              </a:rPr>
              <a:t>›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26479" y="4434840"/>
            <a:ext cx="1481328" cy="566928"/>
          </a:xfrm>
          <a:prstGeom prst="roundRect">
            <a:avLst>
              <a:gd name="adj" fmla="val 12000"/>
            </a:avLst>
          </a:prstGeom>
          <a:solidFill>
            <a:srgbClr val="182B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26479" y="4590288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实施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26096" y="458114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 i="0">
                <a:solidFill>
                  <a:srgbClr val="8A9AAB"/>
                </a:solidFill>
                <a:latin typeface="微软雅黑"/>
                <a:ea typeface="微软雅黑"/>
                <a:cs typeface="微软雅黑"/>
              </a:rPr>
              <a:t>›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909560" y="4434840"/>
            <a:ext cx="1481328" cy="566928"/>
          </a:xfrm>
          <a:prstGeom prst="roundRect">
            <a:avLst>
              <a:gd name="adj" fmla="val 12000"/>
            </a:avLst>
          </a:prstGeom>
          <a:solidFill>
            <a:srgbClr val="0E1B2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09560" y="4590288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检查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09176" y="458114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 i="0">
                <a:solidFill>
                  <a:srgbClr val="8A9AAB"/>
                </a:solidFill>
                <a:latin typeface="微软雅黑"/>
                <a:ea typeface="微软雅黑"/>
                <a:cs typeface="微软雅黑"/>
              </a:rPr>
              <a:t>›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692640" y="4434840"/>
            <a:ext cx="1481328" cy="566928"/>
          </a:xfrm>
          <a:prstGeom prst="roundRect">
            <a:avLst>
              <a:gd name="adj" fmla="val 12000"/>
            </a:avLst>
          </a:prstGeom>
          <a:solidFill>
            <a:srgbClr val="182B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692640" y="4590288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评价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" y="534924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每一讲都走完这六步：接到任务 → 想清楚 → 定方案 → 做出来 → 自己验 → 被评价。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本讲目标：3 知识 + 3 技能 + 1 素养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920240"/>
            <a:ext cx="3310128" cy="45720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2011680"/>
            <a:ext cx="29443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知识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377440"/>
            <a:ext cx="3310128" cy="2834640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578608"/>
            <a:ext cx="285292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1. 说出预测性维护价值链的四个环节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447287"/>
            <a:ext cx="285292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2. 复述 ISO 13374 六功能块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315968"/>
            <a:ext cx="285292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3. 解释 Agent = Model + Harness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07408" y="1920240"/>
            <a:ext cx="3310128" cy="4572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08576" y="2011680"/>
            <a:ext cx="29443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技能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07408" y="2377440"/>
            <a:ext cx="3310128" cy="2834640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36008" y="2578608"/>
            <a:ext cx="285292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1. 画出六功能块与项目模块对应图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36008" y="3447287"/>
            <a:ext cx="285292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2. 完成团队分工与仓库初始化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36008" y="4315968"/>
            <a:ext cx="285292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3. 建立 16 项工件看板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37576" y="1920240"/>
            <a:ext cx="3310128" cy="4572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011680"/>
            <a:ext cx="29443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素养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7576" y="2377440"/>
            <a:ext cx="3310128" cy="2834640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66176" y="2578608"/>
            <a:ext cx="285292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1. 建立交付视角：能用 &gt; 先进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53212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达标标准：能做出工件 + 能说清依据 + 能通过交叉验收。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685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C9A227"/>
                </a:solidFill>
                <a:latin typeface="微软雅黑"/>
                <a:ea typeface="微软雅黑"/>
                <a:cs typeface="微软雅黑"/>
              </a:rPr>
              <a:t>SITUATION · 现场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241280" cy="3200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60000"/>
              </a:lnSpc>
            </a:pPr>
            <a:r>
              <a:rPr sz="21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 号线主传动电机声音不对。上一套系统给了 27 页报告，结论是「建议关注」。老周说：我要的不是报告，是哪天停、停多久、要几个人、备件有没有。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892040"/>
            <a:ext cx="4937760" cy="18288"/>
          </a:xfrm>
          <a:prstGeom prst="rect">
            <a:avLst/>
          </a:prstGeom>
          <a:solidFill>
            <a:srgbClr val="33485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507492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B8C6D4"/>
                </a:solidFill>
                <a:latin typeface="微软雅黑"/>
                <a:ea typeface="微软雅黑"/>
                <a:cs typeface="微软雅黑"/>
              </a:rPr>
              <a:t>委托方：设备科长老周 / 集团数字化部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440680"/>
            <a:ext cx="10241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C9A227"/>
                </a:solidFill>
                <a:latin typeface="微软雅黑"/>
                <a:ea typeface="微软雅黑"/>
                <a:cs typeface="微软雅黑"/>
              </a:rPr>
              <a:t>核心矛盾：技术语言 vs 生产语言：报告 ≠ 决策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QUESTION CHAIN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问题链：今天要回答的 5 个问题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810512"/>
            <a:ext cx="9692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预测准确率 95% 的系统，为什么班组不用？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1463040" y="2468880"/>
            <a:ext cx="9509760" cy="7315"/>
          </a:xfrm>
          <a:prstGeom prst="rect">
            <a:avLst/>
          </a:prstGeom>
          <a:solidFill>
            <a:srgbClr val="D8DF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670048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651760"/>
            <a:ext cx="9692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六功能块里，哪一块最容易做、哪一块最容易被忽略？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63040" y="3310128"/>
            <a:ext cx="9509760" cy="7315"/>
          </a:xfrm>
          <a:prstGeom prst="rect">
            <a:avLst/>
          </a:prstGeom>
          <a:solidFill>
            <a:srgbClr val="D8DF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511296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493008"/>
            <a:ext cx="9692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Agent 和聊天机器人差在哪？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63040" y="4151376"/>
            <a:ext cx="9509760" cy="7315"/>
          </a:xfrm>
          <a:prstGeom prst="rect">
            <a:avLst/>
          </a:prstGeom>
          <a:solidFill>
            <a:srgbClr val="D8DF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352544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334256"/>
            <a:ext cx="9692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这门课结束时，你要交出什么？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463040" y="4992624"/>
            <a:ext cx="9509760" cy="7315"/>
          </a:xfrm>
          <a:prstGeom prst="rect">
            <a:avLst/>
          </a:prstGeom>
          <a:solidFill>
            <a:srgbClr val="D8DF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193792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175504"/>
            <a:ext cx="9692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如果只能保一个指标，你保准确还是保可用？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617220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下课前，这 5 个问题你要能自己回答，而不是背答案。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VALUE CHAIN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预测性维护的价值链：六环，环环会断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1042416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15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采集：数据不全、单位混乱、时间不同步</a:t>
            </a:r>
          </a:p>
          <a:p>
            <a:pPr>
              <a:lnSpc>
                <a:spcPct val="130000"/>
              </a:lnSpc>
              <a:spcAft>
                <a:spcPts val="15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诊断：能算出指标，但说不清依据</a:t>
            </a:r>
          </a:p>
          <a:p>
            <a:pPr>
              <a:lnSpc>
                <a:spcPct val="130000"/>
              </a:lnSpc>
              <a:spcAft>
                <a:spcPts val="15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预测：给了单点值，不给误差</a:t>
            </a:r>
          </a:p>
          <a:p>
            <a:pPr>
              <a:lnSpc>
                <a:spcPct val="130000"/>
              </a:lnSpc>
              <a:spcAft>
                <a:spcPts val="15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决策：四个部门吵 2 小时没结论</a:t>
            </a:r>
          </a:p>
          <a:p>
            <a:pPr>
              <a:lnSpc>
                <a:spcPct val="130000"/>
              </a:lnSpc>
              <a:spcAft>
                <a:spcPts val="15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执行：工单建了，备件没到，人没排</a:t>
            </a:r>
          </a:p>
          <a:p>
            <a:pPr>
              <a:lnSpc>
                <a:spcPct val="130000"/>
              </a:lnSpc>
              <a:spcAft>
                <a:spcPts val="15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反馈：做完就完了，经验没有沉淀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98932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断得最多的不是采集，是决策与反馈。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ISO 13374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六功能块 → 项目落点（这张表要背下来）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1874519"/>
          <a:ext cx="10607040" cy="3328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1120"/>
                <a:gridCol w="2682240"/>
                <a:gridCol w="6583680"/>
              </a:tblGrid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功能块</a:t>
                      </a:r>
                    </a:p>
                  </a:txBody>
                  <a:tcPr marL="109728" marR="73152" marT="45720" marB="45720" anchor="ctr">
                    <a:solidFill>
                      <a:srgbClr val="0E1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名称</a:t>
                      </a:r>
                    </a:p>
                  </a:txBody>
                  <a:tcPr marL="109728" marR="73152" marT="45720" marB="45720" anchor="ctr">
                    <a:solidFill>
                      <a:srgbClr val="0E1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本项目落点</a:t>
                      </a:r>
                    </a:p>
                  </a:txBody>
                  <a:tcPr marL="109728" marR="73152" marT="45720" marB="45720" anchor="ctr">
                    <a:solidFill>
                      <a:srgbClr val="0E1B2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DA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数据采集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Rust 边缘采集 / 采集服务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DM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数据处理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特征计算（RMS/峭度/温升/电流/趋势）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SD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状态监测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阈值判定与告警（分级 + SLA）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HA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健康评估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五维健康指数 HI + 证据链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PA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预测评估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世界模型 L1（退化拟合 + 反事实）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AG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决策执行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四角色会诊 / 方案卡 / 工单 / 反馈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77240" y="612648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记法：采 → 算 → 监 → 评 → 测 → 决。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CORE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Agent = Model + Harness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1042416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24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 b="1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模型</a:t>
            </a:r>
            <a:r>
              <a:rPr sz="190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  提供推理能力，但不提供约束</a:t>
            </a:r>
          </a:p>
          <a:p>
            <a:pPr>
              <a:lnSpc>
                <a:spcPct val="130000"/>
              </a:lnSpc>
              <a:spcAft>
                <a:spcPts val="24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 b="1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Harness</a:t>
            </a:r>
            <a:r>
              <a:rPr sz="190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  提供循环、工具、权限、观测、评测</a:t>
            </a:r>
          </a:p>
          <a:p>
            <a:pPr>
              <a:lnSpc>
                <a:spcPct val="130000"/>
              </a:lnSpc>
              <a:spcAft>
                <a:spcPts val="24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 b="1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没有 Harness</a:t>
            </a:r>
            <a:r>
              <a:rPr sz="190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  模型只会「说」，不会「可靠地做」</a:t>
            </a:r>
          </a:p>
          <a:p>
            <a:pPr>
              <a:lnSpc>
                <a:spcPct val="130000"/>
              </a:lnSpc>
              <a:spcAft>
                <a:spcPts val="24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 b="1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工业场景</a:t>
            </a:r>
            <a:r>
              <a:rPr sz="190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  要的不是聪明，是可控、可审计、可回滚</a:t>
            </a:r>
          </a:p>
          <a:p>
            <a:pPr>
              <a:lnSpc>
                <a:spcPct val="130000"/>
              </a:lnSpc>
              <a:spcAft>
                <a:spcPts val="24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 b="1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本课程重点</a:t>
            </a:r>
            <a:r>
              <a:rPr sz="190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  七组件里，权限与循环最关键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98932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记住一句话：约束不是限制能力，约束是能力可交付的前提。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CAREER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两种人：会调 API vs 能做交付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74519"/>
            <a:ext cx="4983480" cy="54864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01168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1F7A8C"/>
                </a:solidFill>
                <a:latin typeface="微软雅黑"/>
                <a:ea typeface="微软雅黑"/>
                <a:cs typeface="微软雅黑"/>
              </a:rPr>
              <a:t>会调 API 的人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560320"/>
            <a:ext cx="489204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2400"/>
              </a:spcAft>
            </a:pPr>
            <a:r>
              <a:rPr sz="1600">
                <a:solidFill>
                  <a:srgbClr val="1F7A8C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8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写一个能聊天的 Agent</a:t>
            </a:r>
          </a:p>
          <a:p>
            <a:pPr>
              <a:lnSpc>
                <a:spcPct val="130000"/>
              </a:lnSpc>
              <a:spcAft>
                <a:spcPts val="2400"/>
              </a:spcAft>
            </a:pPr>
            <a:r>
              <a:rPr sz="1600">
                <a:solidFill>
                  <a:srgbClr val="1F7A8C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8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让模型「别乱来」</a:t>
            </a:r>
          </a:p>
          <a:p>
            <a:pPr>
              <a:lnSpc>
                <a:spcPct val="130000"/>
              </a:lnSpc>
              <a:spcAft>
                <a:spcPts val="2400"/>
              </a:spcAft>
            </a:pPr>
            <a:r>
              <a:rPr sz="1600">
                <a:solidFill>
                  <a:srgbClr val="1F7A8C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8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接一堆工具</a:t>
            </a:r>
          </a:p>
          <a:p>
            <a:pPr>
              <a:lnSpc>
                <a:spcPct val="130000"/>
              </a:lnSpc>
              <a:spcAft>
                <a:spcPts val="2400"/>
              </a:spcAft>
            </a:pPr>
            <a:r>
              <a:rPr sz="1600">
                <a:solidFill>
                  <a:srgbClr val="1F7A8C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8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说「效果不错」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874519"/>
            <a:ext cx="4983480" cy="54864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01168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能做交付的人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560320"/>
            <a:ext cx="489204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2400"/>
              </a:spcAft>
            </a:pPr>
            <a:r>
              <a:rPr sz="16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8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写状态可预测的 Agent</a:t>
            </a:r>
          </a:p>
          <a:p>
            <a:pPr>
              <a:lnSpc>
                <a:spcPct val="130000"/>
              </a:lnSpc>
              <a:spcAft>
                <a:spcPts val="2400"/>
              </a:spcAft>
            </a:pPr>
            <a:r>
              <a:rPr sz="16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8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用运行时权限门保证不乱来</a:t>
            </a:r>
          </a:p>
          <a:p>
            <a:pPr>
              <a:lnSpc>
                <a:spcPct val="130000"/>
              </a:lnSpc>
              <a:spcAft>
                <a:spcPts val="2400"/>
              </a:spcAft>
            </a:pPr>
            <a:r>
              <a:rPr sz="16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8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用协议 + 白名单 + 审计接工具</a:t>
            </a:r>
          </a:p>
          <a:p>
            <a:pPr>
              <a:lnSpc>
                <a:spcPct val="130000"/>
              </a:lnSpc>
              <a:spcAft>
                <a:spcPts val="2400"/>
              </a:spcAft>
            </a:pPr>
            <a:r>
              <a:rPr sz="16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8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用证据链 + 验收清单证明效果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94360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差距不在会不会用模型，在有没有工程约束。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COURSE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16 讲是一条工件链，不是 16 个知识点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965960"/>
            <a:ext cx="2514600" cy="82296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148840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23160"/>
            <a:ext cx="2514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M1 规格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907792"/>
            <a:ext cx="2514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需求 / 架构 / 指标
16 学时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0" y="1965960"/>
            <a:ext cx="2514600" cy="82296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2148840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1F7A8C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423160"/>
            <a:ext cx="2514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M2 内核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907792"/>
            <a:ext cx="2514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工具 / 循环 / 权限
协议 / 记忆
20 学时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1965960"/>
            <a:ext cx="2514600" cy="82296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200" y="2148840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2423160"/>
            <a:ext cx="2514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M3 决策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2907792"/>
            <a:ext cx="2514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诊断 / 世界模型
会诊
12 学时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869680" y="1965960"/>
            <a:ext cx="2514600" cy="82296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680" y="2148840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1F7A8C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2423160"/>
            <a:ext cx="2514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M4 交付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0" y="2907792"/>
            <a:ext cx="2514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测试 / 部署 / 治理
答辩
16 学时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4251960"/>
            <a:ext cx="10607040" cy="1051560"/>
          </a:xfrm>
          <a:prstGeom prst="roundRect">
            <a:avLst>
              <a:gd name="adj" fmla="val 4000"/>
            </a:avLst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1560" y="4480560"/>
            <a:ext cx="100584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每一讲的产出是下一讲的输入。跳讲 = 工件链断裂 = 第 16 讲交不出东西。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DELIVERABLE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你要交付的不是作业，是一个系统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1042416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24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规格包：需求 + C4 + 接口契约</a:t>
            </a:r>
          </a:p>
          <a:p>
            <a:pPr>
              <a:lnSpc>
                <a:spcPct val="130000"/>
              </a:lnSpc>
              <a:spcAft>
                <a:spcPts val="24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内核包：Harness + ≥6 个工具 + 三层记忆</a:t>
            </a:r>
          </a:p>
          <a:p>
            <a:pPr>
              <a:lnSpc>
                <a:spcPct val="130000"/>
              </a:lnSpc>
              <a:spcAft>
                <a:spcPts val="24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决策包：诊断 + 世界模型 + 会诊 + 方案卡</a:t>
            </a:r>
          </a:p>
          <a:p>
            <a:pPr>
              <a:lnSpc>
                <a:spcPct val="130000"/>
              </a:lnSpc>
              <a:spcAft>
                <a:spcPts val="24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质量包：单测 ≥30、E2E ≥10、缺陷报告 ≥3</a:t>
            </a:r>
          </a:p>
          <a:p>
            <a:pPr>
              <a:lnSpc>
                <a:spcPct val="130000"/>
              </a:lnSpc>
              <a:spcAft>
                <a:spcPts val="24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交付包：部署单 + 运维手册 + 42 项自查 + 答辩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98932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不要求功能多，要求每一块都能被验证。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DEFINITION OF DONE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本讲验收（DoD）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975104"/>
            <a:ext cx="201168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920240"/>
            <a:ext cx="4754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6 个角色全部有人认领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3163824"/>
            <a:ext cx="201168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108960"/>
            <a:ext cx="4754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每人能说出自己交付什么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4352544"/>
            <a:ext cx="201168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4297680"/>
            <a:ext cx="4754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仓库有 README 与目录规范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975104"/>
            <a:ext cx="201168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920240"/>
            <a:ext cx="4754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看板 16 张卡齐全且有负责人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3163824"/>
            <a:ext cx="201168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3108960"/>
            <a:ext cx="4754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协作规约写明分支/提交/评审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4352544"/>
            <a:ext cx="201168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4297680"/>
            <a:ext cx="4754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全组能说出最终交付物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98932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自检 → 换组交叉验收 → 双方签字，缺一项不算完成。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PITFALLS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三个常见翻车点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1042416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30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角色没人愿意当测试 → 最后没人把关质量</a:t>
            </a:r>
          </a:p>
          <a:p>
            <a:pPr>
              <a:lnSpc>
                <a:spcPct val="130000"/>
              </a:lnSpc>
              <a:spcAft>
                <a:spcPts val="30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章程写成口号（团结/努力/创新）→ 一周后失效</a:t>
            </a:r>
          </a:p>
          <a:p>
            <a:pPr>
              <a:lnSpc>
                <a:spcPct val="130000"/>
              </a:lnSpc>
              <a:spcAft>
                <a:spcPts val="30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看板建了不用 → 进度全靠组长脑子记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98932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章程只写三件事：谁做什么、什么时候交、做不完怎么办。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本讲评分（1.5 分）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1965960"/>
          <a:ext cx="8595360" cy="1901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1737360"/>
                <a:gridCol w="2286000"/>
              </a:tblGrid>
              <a:tr h="47548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评分点</a:t>
                      </a:r>
                    </a:p>
                  </a:txBody>
                  <a:tcPr anchor="ctr" marL="128016">
                    <a:solidFill>
                      <a:srgbClr val="0E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权重</a:t>
                      </a:r>
                    </a:p>
                  </a:txBody>
                  <a:tcPr anchor="ctr" marL="128016">
                    <a:solidFill>
                      <a:srgbClr val="0E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评分人</a:t>
                      </a:r>
                    </a:p>
                  </a:txBody>
                  <a:tcPr anchor="ctr" marL="128016">
                    <a:solidFill>
                      <a:srgbClr val="0E1B2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章程完整性（角色/规约/计划）</a:t>
                      </a:r>
                    </a:p>
                  </a:txBody>
                  <a:tcPr anchor="ctr" marL="1280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40%</a:t>
                      </a:r>
                    </a:p>
                  </a:txBody>
                  <a:tcPr anchor="ctr" marL="1280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教师</a:t>
                      </a:r>
                    </a:p>
                  </a:txBody>
                  <a:tcPr anchor="ctr" marL="128016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仓库规范性</a:t>
                      </a:r>
                    </a:p>
                  </a:txBody>
                  <a:tcPr anchor="ctr" marL="128016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30%</a:t>
                      </a:r>
                    </a:p>
                  </a:txBody>
                  <a:tcPr anchor="ctr" marL="128016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助教</a:t>
                      </a:r>
                    </a:p>
                  </a:txBody>
                  <a:tcPr anchor="ctr" marL="128016">
                    <a:solidFill>
                      <a:srgbClr val="F2F5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90 秒路演表达</a:t>
                      </a:r>
                    </a:p>
                  </a:txBody>
                  <a:tcPr anchor="ctr" marL="1280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30%</a:t>
                      </a:r>
                    </a:p>
                  </a:txBody>
                  <a:tcPr anchor="ctr" marL="1280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组间互评</a:t>
                      </a:r>
                    </a:p>
                  </a:txBody>
                  <a:tcPr anchor="ctr" marL="12801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9555480" y="2011680"/>
            <a:ext cx="21945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总分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2286000"/>
            <a:ext cx="23774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8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1.5分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55480" y="3291840"/>
            <a:ext cx="21945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计入
工件作品集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120640"/>
            <a:ext cx="84124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评分规则：按证据打分，不看口才；关键项缺失整项降级；红线违规一票否决。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本讲小结：带走 4 句话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74519"/>
            <a:ext cx="10607040" cy="896112"/>
          </a:xfrm>
          <a:prstGeom prst="roundRect">
            <a:avLst>
              <a:gd name="adj" fmla="val 5000"/>
            </a:avLst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74519"/>
            <a:ext cx="64008" cy="89611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" y="1993391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终点是决策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2350008"/>
            <a:ext cx="9966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预测只是中间产物，决策才是交付物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898648"/>
            <a:ext cx="10607040" cy="896112"/>
          </a:xfrm>
          <a:prstGeom prst="roundRect">
            <a:avLst>
              <a:gd name="adj" fmla="val 5000"/>
            </a:avLst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898648"/>
            <a:ext cx="64008" cy="896112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9848" y="3017520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六功能块是骨架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" y="3374136"/>
            <a:ext cx="9966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DA→DM→SD→HA→PA→AG，一块不能少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922776"/>
            <a:ext cx="10607040" cy="896112"/>
          </a:xfrm>
          <a:prstGeom prst="roundRect">
            <a:avLst>
              <a:gd name="adj" fmla="val 5000"/>
            </a:avLst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3922776"/>
            <a:ext cx="64008" cy="89611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9848" y="4041648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Agent 靠 Harness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" y="4398264"/>
            <a:ext cx="9966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模型负责想，Harness 负责管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946904"/>
            <a:ext cx="10607040" cy="896112"/>
          </a:xfrm>
          <a:prstGeom prst="roundRect">
            <a:avLst>
              <a:gd name="adj" fmla="val 5000"/>
            </a:avLst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4946904"/>
            <a:ext cx="64008" cy="896112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69848" y="5065776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先定规矩再写码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" y="5422392"/>
            <a:ext cx="9966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角色、仓库、看板，第一周就要立起来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AFTER CLASS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课后任务与预习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20240"/>
            <a:ext cx="65836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5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7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读 docs/00 与 docs/01，标出 3 个你看不懂的词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5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7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每人写 300 字《我理解的「交付」》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5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7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组长把看板截图发群里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5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7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预习第 02 讲：什么叫「可验收」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1920240"/>
            <a:ext cx="3611880" cy="3566160"/>
          </a:xfrm>
          <a:prstGeom prst="roundRect">
            <a:avLst>
              <a:gd name="adj" fmla="val 5000"/>
            </a:avLst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92440" y="2148840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提交要求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2560320"/>
            <a:ext cx="3108960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位置：artifacts/T01_团队章程/
截止：课后 48 小时
必写：README（做了什么/怎么验证/遗留）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C9A227"/>
                </a:solidFill>
                <a:latin typeface="微软雅黑"/>
                <a:ea typeface="微软雅黑"/>
                <a:cs typeface="微软雅黑"/>
              </a:rPr>
              <a:t>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8778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 02 讲 · 需求工程：把一句抱怨变成可验收的规格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834640"/>
            <a:ext cx="8778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B8C6D4"/>
                </a:solidFill>
                <a:latin typeface="微软雅黑"/>
                <a:ea typeface="微软雅黑"/>
                <a:cs typeface="微软雅黑"/>
              </a:rPr>
              <a:t>带上一张纸：写下你们组最想解决的那个问题。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4160520"/>
            <a:ext cx="4206240" cy="18288"/>
          </a:xfrm>
          <a:prstGeom prst="rect">
            <a:avLst/>
          </a:prstGeom>
          <a:solidFill>
            <a:srgbClr val="33485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4389120"/>
            <a:ext cx="96012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400" b="0" i="0">
                <a:solidFill>
                  <a:srgbClr val="9FB2C4"/>
                </a:solidFill>
                <a:latin typeface="微软雅黑"/>
                <a:ea typeface="微软雅黑"/>
                <a:cs typeface="微软雅黑"/>
              </a:rPr>
              <a:t>下课前 10 分钟：复盘三问
① 凭什么说它是对的？ ② 明天最先坏在哪？ ③ 哪一步可以少走？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