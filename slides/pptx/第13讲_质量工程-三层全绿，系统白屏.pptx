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本讲为第 13 讲，质量工程：三层全绿，系统白屏。开场先讲情境，不要先讲概念。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先让学生看到节奏：4 学时不是 4 节理论课，而是 1 个完整工作循环。强调最后 25 分钟验收不可省。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逐条读目标，但不要解释。告诉学生：目标不是背的，是下课前用来对照的。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讲情境时不要急着给答案。讲完停 5 秒，问：'如果是你，你怎么回答？' 让 2–3 个学生说。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问题链是本讲的骨架。每讲完一个概念，回到对应问题，确认学生能答。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这一讲用真实缺陷复盘开场，比讲理论有效。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强调：不是数量越多越好，是每层职责清楚。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讲这个真实案例，学生印象最深。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现场给一份不合格报告，让学生补成合格。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巡场记录学生卡在哪：是不会写用例，还是不会看日志。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逐个讲 2 分钟，重点在「为什么测试没抓到」。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交叉复现：A 写报告，B 按报告复现，B 签字才算过。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强调回归：不补回归，同一个 bug 会回来。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报告不能被复现的，该项按 0 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下一讲：部署到边缘，网络还会断。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作业要当堂说清楚提交位置与截止时间。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结束页不要拖堂。留 10 分钟做复盘三问，比多讲一个知识点有价值。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281160" y="320040"/>
            <a:ext cx="27432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0" b="1" i="0">
                <a:solidFill>
                  <a:srgbClr val="1E334A"/>
                </a:solidFill>
                <a:latin typeface="微软雅黑"/>
                <a:ea typeface="微软雅黑"/>
                <a:cs typeface="微软雅黑"/>
              </a:rPr>
              <a:t>13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M4 工程化交付  ·  第 13 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83210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质量工程：三层全绿，系统白屏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794760"/>
            <a:ext cx="7589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B8C6D4"/>
                </a:solidFill>
                <a:latin typeface="微软雅黑"/>
                <a:ea typeface="微软雅黑"/>
                <a:cs typeface="微软雅黑"/>
              </a:rPr>
              <a:t>测试金字塔、Mock 边界、缺陷定位与可复现报告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4892040"/>
            <a:ext cx="7498079" cy="18288"/>
          </a:xfrm>
          <a:prstGeom prst="rect">
            <a:avLst/>
          </a:prstGeom>
          <a:solidFill>
            <a:srgbClr val="33485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20640"/>
            <a:ext cx="8412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4 学时（理论 1.0 / 实践 3.0）｜机房｜学校教师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9893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F8296"/>
                </a:solidFill>
                <a:latin typeface="微软雅黑"/>
                <a:ea typeface="微软雅黑"/>
                <a:cs typeface="微软雅黑"/>
              </a:rPr>
              <a:t>AI 智能体工程化项目实战  ·  64 学时  ·  双元制本土化课程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SESSION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本讲导航：4 学时怎么用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965960"/>
            <a:ext cx="2606040" cy="1600200"/>
          </a:xfrm>
          <a:prstGeom prst="roundRect">
            <a:avLst>
              <a:gd name="adj" fmla="val 6000"/>
            </a:avLst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965960"/>
            <a:ext cx="54864" cy="16002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2176272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1" y="2487168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事故导入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288036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三层全绿却白屏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84448" y="1965960"/>
            <a:ext cx="2606040" cy="1600200"/>
          </a:xfrm>
          <a:prstGeom prst="roundRect">
            <a:avLst>
              <a:gd name="adj" fmla="val 6000"/>
            </a:avLst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84448" y="1965960"/>
            <a:ext cx="54864" cy="160020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0" y="2176272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F7A8C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2487168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测试分层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288036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金字塔与 Mock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91656" y="1965960"/>
            <a:ext cx="2606040" cy="1600200"/>
          </a:xfrm>
          <a:prstGeom prst="roundRect">
            <a:avLst>
              <a:gd name="adj" fmla="val 6000"/>
            </a:avLst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91656" y="1965960"/>
            <a:ext cx="54864" cy="16002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47688" y="2176272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47688" y="2487168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埋雷实操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47688" y="288036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抓一个真 bug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98864" y="1965960"/>
            <a:ext cx="2606040" cy="1600200"/>
          </a:xfrm>
          <a:prstGeom prst="roundRect">
            <a:avLst>
              <a:gd name="adj" fmla="val 6000"/>
            </a:avLst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98864" y="1965960"/>
            <a:ext cx="54864" cy="160020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54896" y="2176272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F7A8C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54896" y="2487168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交叉复现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88036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报告能不能用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3977639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行动六步（完整行动模型）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4434840"/>
            <a:ext cx="1481328" cy="566928"/>
          </a:xfrm>
          <a:prstGeom prst="roundRect">
            <a:avLst>
              <a:gd name="adj" fmla="val 12000"/>
            </a:avLst>
          </a:prstGeom>
          <a:solidFill>
            <a:srgbClr val="0E1B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590288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信息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76856" y="458114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 i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560320" y="4434840"/>
            <a:ext cx="1481328" cy="566928"/>
          </a:xfrm>
          <a:prstGeom prst="roundRect">
            <a:avLst>
              <a:gd name="adj" fmla="val 12000"/>
            </a:avLst>
          </a:prstGeom>
          <a:solidFill>
            <a:srgbClr val="182B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560320" y="4590288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计划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59935" y="458114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 i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43400" y="4434840"/>
            <a:ext cx="1481328" cy="566928"/>
          </a:xfrm>
          <a:prstGeom prst="roundRect">
            <a:avLst>
              <a:gd name="adj" fmla="val 12000"/>
            </a:avLst>
          </a:prstGeom>
          <a:solidFill>
            <a:srgbClr val="0E1B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43400" y="4590288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决策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43016" y="458114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 i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›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26479" y="4434840"/>
            <a:ext cx="1481328" cy="566928"/>
          </a:xfrm>
          <a:prstGeom prst="roundRect">
            <a:avLst>
              <a:gd name="adj" fmla="val 12000"/>
            </a:avLst>
          </a:prstGeom>
          <a:solidFill>
            <a:srgbClr val="182B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26479" y="4590288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实施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26096" y="458114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 i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›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909560" y="4434840"/>
            <a:ext cx="1481328" cy="566928"/>
          </a:xfrm>
          <a:prstGeom prst="roundRect">
            <a:avLst>
              <a:gd name="adj" fmla="val 12000"/>
            </a:avLst>
          </a:prstGeom>
          <a:solidFill>
            <a:srgbClr val="0E1B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09560" y="4590288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检查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09176" y="458114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 i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›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692640" y="4434840"/>
            <a:ext cx="1481328" cy="566928"/>
          </a:xfrm>
          <a:prstGeom prst="roundRect">
            <a:avLst>
              <a:gd name="adj" fmla="val 12000"/>
            </a:avLst>
          </a:prstGeom>
          <a:solidFill>
            <a:srgbClr val="182B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92640" y="4590288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评价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534924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每一讲都走完这六步：接到任务 → 想清楚 → 定方案 → 做出来 → 自己验 → 被评价。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本讲目标：3 知识 + 3 技能 + 1 素养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920240"/>
            <a:ext cx="3310128" cy="45720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2011680"/>
            <a:ext cx="29443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知识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377440"/>
            <a:ext cx="3310128" cy="283464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78608"/>
            <a:ext cx="285292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1. 说出测试金字塔四层与配比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447287"/>
            <a:ext cx="285292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2. 说出 Mock 的适用边界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315968"/>
            <a:ext cx="285292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3. 说出缺陷报告六要素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07408" y="1920240"/>
            <a:ext cx="3310128" cy="4572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8576" y="2011680"/>
            <a:ext cx="29443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技能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07408" y="2377440"/>
            <a:ext cx="3310128" cy="283464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36008" y="2578608"/>
            <a:ext cx="285292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1. 设计三层测试用例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6008" y="3447287"/>
            <a:ext cx="285292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2. 定位并复现 1 个缺陷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36008" y="4315968"/>
            <a:ext cx="285292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3. 写出可复现的缺陷报告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37576" y="1920240"/>
            <a:ext cx="3310128" cy="4572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011680"/>
            <a:ext cx="29443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素养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7576" y="2377440"/>
            <a:ext cx="3310128" cy="283464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66176" y="2578608"/>
            <a:ext cx="285292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1. 建立「测试是交付一部分」的意识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53212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达标标准：能做出工件 + 能说清依据 + 能通过交叉验收。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85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SITUATION · 现场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241280" cy="3200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60000"/>
              </a:lnSpc>
            </a:pPr>
            <a:r>
              <a:rPr sz="21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上线前，API 测试 66 项全绿，单元测试 146 项全绿。上线当天，管理台白屏。查了 3 小时，发现一个按钮的 onclick 绑到了不存在的函数名。三层都「对」，系统是坏的。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892040"/>
            <a:ext cx="4937760" cy="18288"/>
          </a:xfrm>
          <a:prstGeom prst="rect">
            <a:avLst/>
          </a:prstGeom>
          <a:solidFill>
            <a:srgbClr val="33485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07492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B8C6D4"/>
                </a:solidFill>
                <a:latin typeface="微软雅黑"/>
                <a:ea typeface="微软雅黑"/>
                <a:cs typeface="微软雅黑"/>
              </a:rPr>
              <a:t>委托方：质量部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440680"/>
            <a:ext cx="10241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核心矛盾：测试通过率 vs 用户能不能用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QUESTION 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问题链：今天要回答的 5 个问题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810512"/>
            <a:ext cx="9692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单测全绿，为什么系统还是坏的？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1463040" y="2468880"/>
            <a:ext cx="9509760" cy="7315"/>
          </a:xfrm>
          <a:prstGeom prst="rect">
            <a:avLst/>
          </a:prstGeom>
          <a:solidFill>
            <a:srgbClr val="D8DF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670048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651760"/>
            <a:ext cx="9692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Mock 什么时候会骗你？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63040" y="3310128"/>
            <a:ext cx="9509760" cy="7315"/>
          </a:xfrm>
          <a:prstGeom prst="rect">
            <a:avLst/>
          </a:prstGeom>
          <a:solidFill>
            <a:srgbClr val="D8DF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511296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493008"/>
            <a:ext cx="9692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为什么要有浏览器层测试？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63040" y="4151376"/>
            <a:ext cx="9509760" cy="7315"/>
          </a:xfrm>
          <a:prstGeom prst="rect">
            <a:avLst/>
          </a:prstGeom>
          <a:solidFill>
            <a:srgbClr val="D8DF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352544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334256"/>
            <a:ext cx="9692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缺陷报告写给谁看？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63040" y="4992624"/>
            <a:ext cx="9509760" cy="7315"/>
          </a:xfrm>
          <a:prstGeom prst="rect">
            <a:avLst/>
          </a:prstGeom>
          <a:solidFill>
            <a:srgbClr val="D8DF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193792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175504"/>
            <a:ext cx="9692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测试通过率 100% 能说明什么？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617220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下课前，这 5 个问题你要能自己回答，而不是背答案。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POST-MORTEM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三层全绿，为什么还是白屏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42416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单测：只测函数，不测 DOM 与事件绑定</a:t>
            </a:r>
          </a:p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E2E：只测接口，不测页面渲染</a:t>
            </a:r>
          </a:p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浏览器：根本没做</a:t>
            </a:r>
          </a:p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结果：每一层都「对」，层与层之间是空的</a:t>
            </a:r>
          </a:p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结论：测试要按「用户路径」补齐，不是按「代码结构」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98932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测试的盲区，永远在层与层的接缝处。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PYRAMID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测试金字塔：本项目怎么配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1874519"/>
          <a:ext cx="10607038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0884"/>
                <a:gridCol w="2977414"/>
                <a:gridCol w="2419149"/>
                <a:gridCol w="3349591"/>
              </a:tblGrid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层</a:t>
                      </a:r>
                    </a:p>
                  </a:txBody>
                  <a:tcPr marL="109728" marR="73152" marT="45720" marB="45720" anchor="ctr">
                    <a:solidFill>
                      <a:srgbClr val="0E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测什么</a:t>
                      </a:r>
                    </a:p>
                  </a:txBody>
                  <a:tcPr marL="109728" marR="73152" marT="45720" marB="45720" anchor="ctr">
                    <a:solidFill>
                      <a:srgbClr val="0E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本项目数量</a:t>
                      </a:r>
                    </a:p>
                  </a:txBody>
                  <a:tcPr marL="109728" marR="73152" marT="45720" marB="45720" anchor="ctr">
                    <a:solidFill>
                      <a:srgbClr val="0E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特点</a:t>
                      </a:r>
                    </a:p>
                  </a:txBody>
                  <a:tcPr marL="109728" marR="73152" marT="45720" marB="45720" anchor="ctr">
                    <a:solidFill>
                      <a:srgbClr val="0E1B2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单元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函数/规则/算法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146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快、便宜、定位准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集成/E2E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接口/数据库/消息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70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慢、接近真实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浏览器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页面/交互/渲染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211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最接近用户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混沌/演练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断网/依赖故障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按需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验证降级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77240" y="612648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越往上越少、越慢、越贵，但越接近「用户能不能用」。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MOCK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Mock 的边界：什么时候会骗你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42416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Mock 返回固定数据 → 测不出 schema 差异</a:t>
            </a:r>
          </a:p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Mock 不校验 SQL → 表名错也通过</a:t>
            </a:r>
          </a:p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Mock 不模拟时区/编码 → 线上才炸</a:t>
            </a:r>
          </a:p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原则：核心链路必须有真实库集成测试</a:t>
            </a:r>
          </a:p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判据：这个 Mock 假设，线上一定成立吗？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98932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真实缺陷：java-asset 表名写错，Mock 全绿，线上 500。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DEFECT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缺陷报告六要素（模板）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74519"/>
            <a:ext cx="10607040" cy="3886200"/>
          </a:xfrm>
          <a:prstGeom prst="roundRect">
            <a:avLst>
              <a:gd name="adj" fmla="val 2000"/>
            </a:avLst>
          </a:prstGeom>
          <a:solidFill>
            <a:srgbClr val="0E1B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99339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8FA3B6"/>
                </a:solidFill>
                <a:latin typeface="Consolas"/>
                <a:ea typeface="Consolas"/>
                <a:cs typeface="Consolas"/>
              </a:rPr>
              <a:t>缺陷报告模板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331720"/>
            <a:ext cx="1005840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8000"/>
              </a:lnSpc>
            </a:pPr>
            <a:r>
              <a:rPr sz="130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## 环境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版本 0.9.24 / 浏览器 Chrome 130 / 租户 site-a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## 复现步骤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1. 打开 /console 管理台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2. 进入「告警中心」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3. 点击首条告警的「确认」按钮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## 期望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弹出确认框，确认后状态变为「已确认」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## 实际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无反应，控制台报 xxx is not a function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## 证据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截图 + console 日志 + trace_id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98932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标准：换一个人按报告能复现，否则不算缺陷报告。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实操：在「埋雷环境」抓 bug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965960"/>
            <a:ext cx="1615440" cy="82296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148840"/>
            <a:ext cx="1615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23160"/>
            <a:ext cx="1615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选用例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907792"/>
            <a:ext cx="16154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正常/边界/异常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75560" y="1965960"/>
            <a:ext cx="1615440" cy="82296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75560" y="2148840"/>
            <a:ext cx="1615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F7A8C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75560" y="2423160"/>
            <a:ext cx="1615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跑单测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75560" y="2907792"/>
            <a:ext cx="16154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10 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73880" y="1965960"/>
            <a:ext cx="1615440" cy="82296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73880" y="2148840"/>
            <a:ext cx="1615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73880" y="2423160"/>
            <a:ext cx="1615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跑 E2E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73880" y="2907792"/>
            <a:ext cx="16154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5 条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199" y="1965960"/>
            <a:ext cx="1615440" cy="82296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2199" y="2148840"/>
            <a:ext cx="1615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F7A8C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199" y="2423160"/>
            <a:ext cx="1615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跑浏览器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199" y="2907792"/>
            <a:ext cx="16154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3 条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70520" y="1965960"/>
            <a:ext cx="1615440" cy="82296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70520" y="2148840"/>
            <a:ext cx="1615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70520" y="2423160"/>
            <a:ext cx="1615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定位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70520" y="2907792"/>
            <a:ext cx="16154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日志/trace/断点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768839" y="1965960"/>
            <a:ext cx="1615440" cy="82296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68839" y="2148840"/>
            <a:ext cx="1615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F7A8C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68839" y="2423160"/>
            <a:ext cx="1615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写报告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68839" y="2907792"/>
            <a:ext cx="16154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六要素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" y="4251960"/>
            <a:ext cx="10607040" cy="1051560"/>
          </a:xfrm>
          <a:prstGeom prst="roundRect">
            <a:avLst>
              <a:gd name="adj" fmla="val 4000"/>
            </a:avLst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4480560"/>
            <a:ext cx="100584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环境里埋了 5 个真实缺陷（来自上游复盘），找到 1 个即达标。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REAL DEFECTS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五个真实缺陷：都值得讲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1874519"/>
          <a:ext cx="10607038" cy="2852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07118"/>
                <a:gridCol w="4049960"/>
                <a:gridCol w="4049960"/>
              </a:tblGrid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缺陷</a:t>
                      </a:r>
                    </a:p>
                  </a:txBody>
                  <a:tcPr marL="109728" marR="73152" marT="45720" marB="45720" anchor="ctr">
                    <a:solidFill>
                      <a:srgbClr val="0E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根因</a:t>
                      </a:r>
                    </a:p>
                  </a:txBody>
                  <a:tcPr marL="109728" marR="73152" marT="45720" marB="45720" anchor="ctr">
                    <a:solidFill>
                      <a:srgbClr val="0E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教学点</a:t>
                      </a:r>
                    </a:p>
                  </a:txBody>
                  <a:tcPr marL="109728" marR="73152" marT="45720" marB="45720" anchor="ctr">
                    <a:solidFill>
                      <a:srgbClr val="0E1B2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按钮白屏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函数名错绑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浏览器层不可省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台账 500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表名 asset vs assets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Mock 掩盖 schema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证据显示 JSON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前端直接 stringify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证据要给人看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雷达图塌陷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缺维未标注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可视化也会说谎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线上旧版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ConfigMap 未更新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部署要有版本校验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77240" y="612648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这五个都不是「算法错」，全是工程细节。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DEFINITION OF DONE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本讲验收（DoD）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975104"/>
            <a:ext cx="20116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920240"/>
            <a:ext cx="4754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用例覆盖正常/边界/异常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3163824"/>
            <a:ext cx="20116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108960"/>
            <a:ext cx="4754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至少 1 个缺陷被他人复现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4352544"/>
            <a:ext cx="20116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4297680"/>
            <a:ext cx="4754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报告含证据（日志/截图/trace）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975104"/>
            <a:ext cx="20116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920240"/>
            <a:ext cx="4754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区分现象与根因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3163824"/>
            <a:ext cx="20116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3108960"/>
            <a:ext cx="4754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补充回归用例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4352544"/>
            <a:ext cx="20116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4297680"/>
            <a:ext cx="4754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能说清「没测什么」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98932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自检 → 换组交叉验收 → 双方签字，缺一项不算完成。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PITFALLS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四个高频错误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42416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30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只测正常路径</a:t>
            </a:r>
          </a:p>
          <a:p>
            <a:pPr>
              <a:lnSpc>
                <a:spcPct val="130000"/>
              </a:lnSpc>
              <a:spcAft>
                <a:spcPts val="30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把现象当根因（「页面白屏」不是根因）</a:t>
            </a:r>
          </a:p>
          <a:p>
            <a:pPr>
              <a:lnSpc>
                <a:spcPct val="130000"/>
              </a:lnSpc>
              <a:spcAft>
                <a:spcPts val="30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报告缺复现步骤</a:t>
            </a:r>
          </a:p>
          <a:p>
            <a:pPr>
              <a:lnSpc>
                <a:spcPct val="130000"/>
              </a:lnSpc>
              <a:spcAft>
                <a:spcPts val="30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缺陷修了但不补回归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98932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缺陷报告的价值 = 别人能复现 + 下次不再犯。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本讲评分（3 分）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1965960"/>
          <a:ext cx="859536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1737360"/>
                <a:gridCol w="2286000"/>
              </a:tblGrid>
              <a:tr h="47548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评分点</a:t>
                      </a:r>
                    </a:p>
                  </a:txBody>
                  <a:tcPr anchor="ctr" marL="128016">
                    <a:solidFill>
                      <a:srgbClr val="0E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权重</a:t>
                      </a:r>
                    </a:p>
                  </a:txBody>
                  <a:tcPr anchor="ctr" marL="128016">
                    <a:solidFill>
                      <a:srgbClr val="0E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评分人</a:t>
                      </a:r>
                    </a:p>
                  </a:txBody>
                  <a:tcPr anchor="ctr" marL="128016">
                    <a:solidFill>
                      <a:srgbClr val="0E1B2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用例设计质量</a:t>
                      </a:r>
                    </a:p>
                  </a:txBody>
                  <a:tcPr anchor="ctr" marL="1280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35%</a:t>
                      </a:r>
                    </a:p>
                  </a:txBody>
                  <a:tcPr anchor="ctr" marL="1280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教师</a:t>
                      </a:r>
                    </a:p>
                  </a:txBody>
                  <a:tcPr anchor="ctr" marL="128016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缺陷定位深度</a:t>
                      </a:r>
                    </a:p>
                  </a:txBody>
                  <a:tcPr anchor="ctr" marL="128016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30%</a:t>
                      </a:r>
                    </a:p>
                  </a:txBody>
                  <a:tcPr anchor="ctr" marL="128016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教师</a:t>
                      </a:r>
                    </a:p>
                  </a:txBody>
                  <a:tcPr anchor="ctr" marL="128016">
                    <a:solidFill>
                      <a:srgbClr val="F2F5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报告可复现性</a:t>
                      </a:r>
                    </a:p>
                  </a:txBody>
                  <a:tcPr anchor="ctr" marL="1280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25%</a:t>
                      </a:r>
                    </a:p>
                  </a:txBody>
                  <a:tcPr anchor="ctr" marL="1280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交叉复现组</a:t>
                      </a:r>
                    </a:p>
                  </a:txBody>
                  <a:tcPr anchor="ctr" marL="128016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回归补充</a:t>
                      </a:r>
                    </a:p>
                  </a:txBody>
                  <a:tcPr anchor="ctr" marL="128016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10%</a:t>
                      </a:r>
                    </a:p>
                  </a:txBody>
                  <a:tcPr anchor="ctr" marL="128016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助教</a:t>
                      </a:r>
                    </a:p>
                  </a:txBody>
                  <a:tcPr anchor="ctr" marL="128016"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9555480" y="2011680"/>
            <a:ext cx="21945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总分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2286000"/>
            <a:ext cx="2377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8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3.0分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55480" y="3291840"/>
            <a:ext cx="21945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计入
工件作品集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120640"/>
            <a:ext cx="84124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评分规则：按证据打分，不看口才；关键项缺失整项降级；红线违规一票否决。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本讲小结：带走 4 句话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74519"/>
            <a:ext cx="10607040" cy="896112"/>
          </a:xfrm>
          <a:prstGeom prst="roundRect">
            <a:avLst>
              <a:gd name="adj" fmla="val 5000"/>
            </a:avLst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74519"/>
            <a:ext cx="64008" cy="89611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" y="1993391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测试按用户路径补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2350008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不是按代码结构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898648"/>
            <a:ext cx="10607040" cy="896112"/>
          </a:xfrm>
          <a:prstGeom prst="roundRect">
            <a:avLst>
              <a:gd name="adj" fmla="val 5000"/>
            </a:avLst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898648"/>
            <a:ext cx="64008" cy="896112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9848" y="301752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Mock 有边界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" y="3374136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核心链路要真库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922776"/>
            <a:ext cx="10607040" cy="896112"/>
          </a:xfrm>
          <a:prstGeom prst="roundRect">
            <a:avLst>
              <a:gd name="adj" fmla="val 5000"/>
            </a:avLst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3922776"/>
            <a:ext cx="64008" cy="89611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9848" y="4041648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缺陷要可复现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" y="4398264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别人能按报告重现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946904"/>
            <a:ext cx="10607040" cy="896112"/>
          </a:xfrm>
          <a:prstGeom prst="roundRect">
            <a:avLst>
              <a:gd name="adj" fmla="val 5000"/>
            </a:avLst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4946904"/>
            <a:ext cx="64008" cy="896112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9848" y="5065776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修完要补回归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" y="5422392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否则会回来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AFTER 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课后任务与预习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20240"/>
            <a:ext cx="65836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5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7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为第 07 讲注入防御补 3 条回归用例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5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7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整理本组缺陷清单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5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7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写一份「我们没测什么」说明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5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7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预习：SQLite 与 WAL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1920240"/>
            <a:ext cx="3611880" cy="3566160"/>
          </a:xfrm>
          <a:prstGeom prst="roundRect">
            <a:avLst>
              <a:gd name="adj" fmla="val 5000"/>
            </a:avLst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92440" y="214884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提交要求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2560320"/>
            <a:ext cx="3108960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位置：artifacts/T13_测试/
截止：课后 48 小时
必写：README + 缺陷报告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8778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 14 讲 · 云边部署：K3s + SQLite 双后端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834640"/>
            <a:ext cx="8778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B8C6D4"/>
                </a:solidFill>
                <a:latin typeface="微软雅黑"/>
                <a:ea typeface="微软雅黑"/>
                <a:cs typeface="微软雅黑"/>
              </a:rPr>
              <a:t>带上笔记本——今天要断网 5 分钟。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4160520"/>
            <a:ext cx="4206240" cy="18288"/>
          </a:xfrm>
          <a:prstGeom prst="rect">
            <a:avLst/>
          </a:prstGeom>
          <a:solidFill>
            <a:srgbClr val="33485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4389120"/>
            <a:ext cx="9601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400" b="0" i="0">
                <a:solidFill>
                  <a:srgbClr val="9FB2C4"/>
                </a:solidFill>
                <a:latin typeface="微软雅黑"/>
                <a:ea typeface="微软雅黑"/>
                <a:cs typeface="微软雅黑"/>
              </a:rPr>
              <a:t>下课前 10 分钟：复盘三问
① 凭什么说它是对的？ ② 明天最先坏在哪？ ③ 哪一步可以少走？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